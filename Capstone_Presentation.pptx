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79" r:id="rId3"/>
    <p:sldId id="283" r:id="rId4"/>
    <p:sldId id="284" r:id="rId5"/>
    <p:sldId id="280" r:id="rId6"/>
    <p:sldId id="293" r:id="rId7"/>
    <p:sldId id="297" r:id="rId8"/>
    <p:sldId id="294" r:id="rId9"/>
    <p:sldId id="268" r:id="rId10"/>
    <p:sldId id="269" r:id="rId11"/>
    <p:sldId id="295" r:id="rId12"/>
    <p:sldId id="296" r:id="rId13"/>
    <p:sldId id="292" r:id="rId14"/>
    <p:sldId id="275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BB461B-7C8E-4671-A046-4130574358C6}" v="2279" dt="2026-02-08T19:54:37.324"/>
    <p1510:client id="{BEE57F7D-11FC-4C1B-97BE-35D979FA87C6}" v="317" dt="2026-02-08T20:33:12.9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415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050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631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361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84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3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11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041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907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70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89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247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deairbnb.com/get-the-data/" TargetMode="External"/><Relationship Id="rId2" Type="http://schemas.openxmlformats.org/officeDocument/2006/relationships/hyperlink" Target="https://www.kaggle.com/code/riverae/airbnb-model-predictions-by-rivera/input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Mexico City Airbnb Income Prediction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Juan Reyes</a:t>
            </a:r>
          </a:p>
          <a:p>
            <a:r>
              <a:rPr lang="en-US" dirty="0">
                <a:solidFill>
                  <a:srgbClr val="000000"/>
                </a:solidFill>
              </a:rPr>
              <a:t>February 8, 2026</a:t>
            </a:r>
          </a:p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898D1-0A8F-6037-6543-9AD67793C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Data Source </a:t>
            </a:r>
            <a:endParaRPr lang="en-US" sz="440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CB536-4BAD-2BBA-54F2-7FD570695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51943" cy="398238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>
                <a:latin typeface="Arial"/>
                <a:cs typeface="Arial"/>
              </a:rPr>
              <a:t>The dataset was obtained from Kaggle and shows real-world Airbnb listings. It includes amenities and other property features (e.g. proximity to park, super markets, schools…</a:t>
            </a:r>
            <a:r>
              <a:rPr lang="en-US" sz="2000" err="1">
                <a:latin typeface="Arial"/>
                <a:cs typeface="Arial"/>
              </a:rPr>
              <a:t>etc</a:t>
            </a:r>
            <a:r>
              <a:rPr lang="en-US" sz="2000" dirty="0">
                <a:latin typeface="Arial"/>
                <a:cs typeface="Arial"/>
              </a:rPr>
              <a:t>) that leads to their corresponding incomes.</a:t>
            </a:r>
            <a:br>
              <a:rPr lang="en-US" sz="2000" dirty="0">
                <a:latin typeface="Arial"/>
              </a:rPr>
            </a:br>
            <a:endParaRPr lang="en-US" sz="20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Arial"/>
                <a:cs typeface="Arial"/>
                <a:hlinkClick r:id="rId2"/>
              </a:rPr>
              <a:t>https://www.kaggle.com/code/riverae/airbnb-model-predictions-by-rivera/input</a:t>
            </a:r>
            <a:endParaRPr lang="en-US" sz="20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Arial"/>
                <a:cs typeface="Arial"/>
                <a:hlinkClick r:id="rId3"/>
              </a:rPr>
              <a:t>https://insideairbnb</a:t>
            </a:r>
            <a:endParaRPr lang="en-US" sz="2000">
              <a:latin typeface="Arial"/>
              <a:cs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597225-8BDC-D6E1-1176-CD4C92FC8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440909"/>
              </p:ext>
            </p:extLst>
          </p:nvPr>
        </p:nvGraphicFramePr>
        <p:xfrm>
          <a:off x="5683156" y="1605013"/>
          <a:ext cx="5170544" cy="3938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5272">
                  <a:extLst>
                    <a:ext uri="{9D8B030D-6E8A-4147-A177-3AD203B41FA5}">
                      <a16:colId xmlns:a16="http://schemas.microsoft.com/office/drawing/2014/main" val="2561667530"/>
                    </a:ext>
                  </a:extLst>
                </a:gridCol>
                <a:gridCol w="2585272">
                  <a:extLst>
                    <a:ext uri="{9D8B030D-6E8A-4147-A177-3AD203B41FA5}">
                      <a16:colId xmlns:a16="http://schemas.microsoft.com/office/drawing/2014/main" val="2065633759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Dataset Features and size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696494"/>
                  </a:ext>
                </a:extLst>
              </a:tr>
              <a:tr h="26499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noProof="0" dirty="0">
                          <a:latin typeface="Arial"/>
                        </a:rPr>
                        <a:t>23, 640 </a:t>
                      </a:r>
                      <a:endParaRPr lang="en-US" sz="20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22699"/>
                  </a:ext>
                </a:extLst>
              </a:tr>
              <a:tr h="26499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Columns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005748"/>
                  </a:ext>
                </a:extLst>
              </a:tr>
              <a:tr h="164885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Categorical Variables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81663"/>
                  </a:ext>
                </a:extLst>
              </a:tr>
              <a:tr h="79571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Target Variable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Income Per Month (Low/Medium/High)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710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261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F8BA3-317A-CF2D-3E2D-FBFB42CF0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and Processing 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4EAF91-6A6E-2EEF-C887-CFF2484963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3606711"/>
              </p:ext>
            </p:extLst>
          </p:nvPr>
        </p:nvGraphicFramePr>
        <p:xfrm>
          <a:off x="838200" y="1825625"/>
          <a:ext cx="10378300" cy="4015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9150">
                  <a:extLst>
                    <a:ext uri="{9D8B030D-6E8A-4147-A177-3AD203B41FA5}">
                      <a16:colId xmlns:a16="http://schemas.microsoft.com/office/drawing/2014/main" val="805829223"/>
                    </a:ext>
                  </a:extLst>
                </a:gridCol>
                <a:gridCol w="5189150">
                  <a:extLst>
                    <a:ext uri="{9D8B030D-6E8A-4147-A177-3AD203B41FA5}">
                      <a16:colId xmlns:a16="http://schemas.microsoft.com/office/drawing/2014/main" val="2974087559"/>
                    </a:ext>
                  </a:extLst>
                </a:gridCol>
              </a:tblGrid>
              <a:tr h="614224">
                <a:tc>
                  <a:txBody>
                    <a:bodyPr/>
                    <a:lstStyle/>
                    <a:p>
                      <a:r>
                        <a:rPr lang="en-US" sz="2000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426461"/>
                  </a:ext>
                </a:extLst>
              </a:tr>
              <a:tr h="614224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Missing Values </a:t>
                      </a:r>
                      <a:endParaRPr lang="en-US" sz="2000" b="0" i="0" u="none" strike="noStrike" noProof="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No missing values</a:t>
                      </a:r>
                      <a:endParaRPr lang="en-US" sz="2000" b="0" i="0" u="none" strike="noStrike" noProof="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573352"/>
                  </a:ext>
                </a:extLst>
              </a:tr>
              <a:tr h="614224">
                <a:tc>
                  <a:txBody>
                    <a:bodyPr/>
                    <a:lstStyle/>
                    <a:p>
                      <a:r>
                        <a:rPr lang="en-US" sz="2000" dirty="0"/>
                        <a:t>Data Type Conversions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Converted 34 object columns to categories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154502"/>
                  </a:ext>
                </a:extLst>
              </a:tr>
              <a:tr h="614224">
                <a:tc>
                  <a:txBody>
                    <a:bodyPr/>
                    <a:lstStyle/>
                    <a:p>
                      <a:r>
                        <a:rPr lang="en-US" sz="2000" dirty="0"/>
                        <a:t>Label Encoding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Applied to cardinality categorical features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161922"/>
                  </a:ext>
                </a:extLst>
              </a:tr>
              <a:tr h="61422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dirty="0"/>
                        <a:t>Feature Engineering </a:t>
                      </a:r>
                    </a:p>
                    <a:p>
                      <a:pPr lvl="0">
                        <a:buNone/>
                      </a:pP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Created multi class labels (Low, Medium, High)</a:t>
                      </a:r>
                      <a:endParaRPr lang="en-US" sz="2000" b="0" i="0" u="none" strike="noStrike" noProof="0" dirty="0"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67113"/>
                  </a:ext>
                </a:extLst>
              </a:tr>
              <a:tr h="6142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dirty="0"/>
                        <a:t>Data Splitting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latin typeface="Aptos"/>
                        </a:rPr>
                        <a:t>80/20 to preserve imbalances 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611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945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2B040-0D23-C8FC-89D8-E490B1ADF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12443-6D81-0F82-D957-F93CFAF91E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Arial"/>
                <a:cs typeface="Arial"/>
              </a:rPr>
              <a:t>Examined influential variables for Airbnb properties</a:t>
            </a:r>
          </a:p>
          <a:p>
            <a:r>
              <a:rPr lang="en-US" sz="2000" dirty="0">
                <a:latin typeface="Arial"/>
                <a:cs typeface="Arial"/>
              </a:rPr>
              <a:t>Found Moderate Imbalance 14% to 48%</a:t>
            </a:r>
          </a:p>
          <a:p>
            <a:r>
              <a:rPr lang="en-US" sz="2000" dirty="0">
                <a:latin typeface="Arial"/>
                <a:cs typeface="Arial"/>
              </a:rPr>
              <a:t>Identified skewed categorical features (location, neighborhood)</a:t>
            </a:r>
            <a:endParaRPr lang="en-US" sz="2000">
              <a:latin typeface="Arial"/>
              <a:ea typeface="Calibri"/>
              <a:cs typeface="Arial"/>
            </a:endParaRPr>
          </a:p>
          <a:p>
            <a:r>
              <a:rPr lang="en-US" sz="2000" dirty="0">
                <a:latin typeface="Arial"/>
                <a:ea typeface="Calibri"/>
                <a:cs typeface="Calibri"/>
              </a:rPr>
              <a:t>Handled via log transforms and binning</a:t>
            </a:r>
            <a:endParaRPr lang="en-US" sz="20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2000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</p:txBody>
      </p:sp>
      <p:pic>
        <p:nvPicPr>
          <p:cNvPr id="5" name="Content Placeholder 4" descr="A group of blue and white graphs&#10;&#10;AI-generated content may be incorrect.">
            <a:extLst>
              <a:ext uri="{FF2B5EF4-FFF2-40B4-BE49-F238E27FC236}">
                <a16:creationId xmlns:a16="http://schemas.microsoft.com/office/drawing/2014/main" id="{618AD1DC-DB43-4F10-EC7B-89673FFDDA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242305"/>
            <a:ext cx="5181600" cy="351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54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041A-CE2E-D5A8-CA02-E5589530A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Imbalance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7F3068-0DC1-3DC4-C46B-FB23A056FBA2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1ED85-073C-4C77-8C33-79D1B91A6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49665"/>
            <a:ext cx="3932237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Arial"/>
                <a:cs typeface="Times New Roman"/>
              </a:rPr>
              <a:t>After categorizing monthly income into three levels, approximately half of the listings fall into the low-income category, around one-third into the medium-income category, and the remaining 10–15% into the high-income category, indicating moderate class imbalance.</a:t>
            </a:r>
            <a:endParaRPr lang="en-US" sz="2000">
              <a:latin typeface="Arial"/>
              <a:cs typeface="Arial"/>
            </a:endParaRPr>
          </a:p>
        </p:txBody>
      </p:sp>
      <p:pic>
        <p:nvPicPr>
          <p:cNvPr id="6" name="Picture 5" descr="A graph of income&#10;&#10;AI-generated content may be incorrect.">
            <a:extLst>
              <a:ext uri="{FF2B5EF4-FFF2-40B4-BE49-F238E27FC236}">
                <a16:creationId xmlns:a16="http://schemas.microsoft.com/office/drawing/2014/main" id="{F7E04778-7E31-E14D-8BFE-8F6BAB6FB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814" y="993466"/>
            <a:ext cx="6163096" cy="486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84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F29D1-990B-9D58-CD1D-C3C481E7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5614"/>
            <a:ext cx="3630065" cy="798787"/>
          </a:xfrm>
        </p:spPr>
        <p:txBody>
          <a:bodyPr/>
          <a:lstStyle/>
          <a:p>
            <a:r>
              <a:rPr lang="en-US" dirty="0"/>
              <a:t>Modeling Approach 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AA2CEF-7D04-C5C6-62A2-9A2D289C4C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4705" y="1665197"/>
            <a:ext cx="5169166" cy="351808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A2744-C8A8-8F2D-5F17-BE99E8361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32641"/>
            <a:ext cx="3945374" cy="567060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 dirty="0">
                <a:latin typeface="Arial"/>
                <a:ea typeface="Calibri"/>
                <a:cs typeface="Calibri"/>
              </a:rPr>
              <a:t>Models Compared:</a:t>
            </a:r>
            <a:endParaRPr lang="en-US" sz="2000" b="1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latin typeface="Arial"/>
                <a:ea typeface="Calibri"/>
                <a:cs typeface="Calibri"/>
              </a:rPr>
              <a:t>Logistic Regression:</a:t>
            </a:r>
            <a:br>
              <a:rPr lang="en-US" sz="2000" dirty="0">
                <a:latin typeface="Arial"/>
                <a:ea typeface="Calibri"/>
                <a:cs typeface="Calibri"/>
              </a:rPr>
            </a:br>
            <a:r>
              <a:rPr lang="en-US" sz="2000" dirty="0">
                <a:latin typeface="Arial"/>
                <a:ea typeface="Calibri"/>
                <a:cs typeface="Calibri"/>
              </a:rPr>
              <a:t>A baseline linear model; interpretable but limited in capturing non-linear relationships and multicollinearity.</a:t>
            </a:r>
            <a:endParaRPr lang="en-US" sz="20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latin typeface="Arial"/>
                <a:ea typeface="Calibri"/>
                <a:cs typeface="Calibri"/>
              </a:rPr>
              <a:t>Random Forest:</a:t>
            </a:r>
            <a:br>
              <a:rPr lang="en-US" sz="2000" dirty="0">
                <a:latin typeface="Arial"/>
                <a:ea typeface="Calibri"/>
                <a:cs typeface="Calibri"/>
              </a:rPr>
            </a:br>
            <a:r>
              <a:rPr lang="en-US" sz="2000" dirty="0">
                <a:latin typeface="Arial"/>
                <a:ea typeface="Calibri"/>
                <a:cs typeface="Calibri"/>
              </a:rPr>
              <a:t>A tree-based ensemble model; handles high-dimensional and categorical data well; robust to overfitting and multicollinearity.</a:t>
            </a:r>
            <a:endParaRPr lang="en-US" sz="20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err="1">
                <a:latin typeface="Arial"/>
                <a:ea typeface="Calibri"/>
                <a:cs typeface="Calibri"/>
              </a:rPr>
              <a:t>XGBoost</a:t>
            </a:r>
            <a:r>
              <a:rPr lang="en-US" sz="2000" b="1" dirty="0">
                <a:latin typeface="Arial"/>
                <a:ea typeface="Calibri"/>
                <a:cs typeface="Calibri"/>
              </a:rPr>
              <a:t>:</a:t>
            </a:r>
            <a:br>
              <a:rPr lang="en-US" sz="2000" dirty="0">
                <a:latin typeface="Arial"/>
                <a:ea typeface="Calibri"/>
                <a:cs typeface="Calibri"/>
              </a:rPr>
            </a:br>
            <a:r>
              <a:rPr lang="en-US" sz="2000" dirty="0">
                <a:latin typeface="Arial"/>
                <a:ea typeface="Calibri"/>
                <a:cs typeface="Calibri"/>
              </a:rPr>
              <a:t>Gradient boosting model; offers strong performance, handles class imbalance, and models complex feature interactions.</a:t>
            </a:r>
            <a:endParaRPr lang="en-US" sz="20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497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C609-2DD9-02A6-15C6-D8671FD6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dirty="0">
                <a:latin typeface="Calibri"/>
                <a:ea typeface="Calibri"/>
                <a:cs typeface="Calibri"/>
              </a:rPr>
              <a:t>EDA: Correlation Analysis – Categorical Feature Associations</a:t>
            </a:r>
            <a:endParaRPr lang="en-US"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93A436B0-CB62-E78B-B455-172352CB7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4488" y="1373082"/>
            <a:ext cx="5829600" cy="410231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D4823-9249-F05D-AD35-7E5D50226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Arial"/>
                <a:cs typeface="Times New Roman"/>
              </a:rPr>
              <a:t>correlation analysis revealed strong relationships </a:t>
            </a:r>
            <a:r>
              <a:rPr lang="en-US" sz="2000" err="1">
                <a:latin typeface="Arial"/>
                <a:cs typeface="Times New Roman"/>
              </a:rPr>
              <a:t>bebetween</a:t>
            </a:r>
            <a:r>
              <a:rPr lang="en-US" sz="2000" dirty="0">
                <a:latin typeface="Arial"/>
                <a:cs typeface="Times New Roman"/>
              </a:rPr>
              <a:t> price and </a:t>
            </a:r>
            <a:r>
              <a:rPr lang="en-US" sz="2000" err="1">
                <a:latin typeface="Arial"/>
                <a:cs typeface="Times New Roman"/>
              </a:rPr>
              <a:t>logarithmic_price</a:t>
            </a:r>
            <a:r>
              <a:rPr lang="en-US" sz="2000" dirty="0">
                <a:latin typeface="Arial"/>
                <a:cs typeface="Times New Roman"/>
              </a:rPr>
              <a:t>, which is expected as one is a transformation of the other. Moderate correlations were also observed between pricing-related variables and cluster-based pricing features. These effects were mitigated through feature selection and the use of tree-based models, which are robust to correlated predictors.</a:t>
            </a:r>
            <a:endParaRPr lang="en-US"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6087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B428F-6264-59F5-C6BA-5F9581814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Baseline Model Performance</a:t>
            </a:r>
            <a:endParaRPr lang="en-US" dirty="0"/>
          </a:p>
        </p:txBody>
      </p:sp>
      <p:pic>
        <p:nvPicPr>
          <p:cNvPr id="5" name="Content Placeholder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D47B25B6-66A4-3BF6-342B-86B1A8D652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47135" y="1688235"/>
            <a:ext cx="7381567" cy="2585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F7D8C6-3EFA-942E-341F-D320DEF113B4}"/>
              </a:ext>
            </a:extLst>
          </p:cNvPr>
          <p:cNvSpPr txBox="1"/>
          <p:nvPr/>
        </p:nvSpPr>
        <p:spPr>
          <a:xfrm>
            <a:off x="1057189" y="4379784"/>
            <a:ext cx="742778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Arial"/>
                <a:ea typeface="+mn-lt"/>
                <a:cs typeface="+mn-lt"/>
              </a:rPr>
              <a:t>•Logistic Regression underperforms across all key metrics.</a:t>
            </a:r>
            <a:endParaRPr lang="en-US" sz="2000">
              <a:latin typeface="Arial"/>
              <a:cs typeface="Arial"/>
            </a:endParaRPr>
          </a:p>
          <a:p>
            <a:r>
              <a:rPr lang="en-US" sz="2000" dirty="0">
                <a:latin typeface="Arial"/>
                <a:ea typeface="+mn-lt"/>
                <a:cs typeface="+mn-lt"/>
              </a:rPr>
              <a:t>•Random Forest and </a:t>
            </a:r>
            <a:r>
              <a:rPr lang="en-US" sz="2000" err="1">
                <a:latin typeface="Arial"/>
                <a:ea typeface="+mn-lt"/>
                <a:cs typeface="+mn-lt"/>
              </a:rPr>
              <a:t>XGBoost</a:t>
            </a:r>
            <a:r>
              <a:rPr lang="en-US" sz="2000" dirty="0">
                <a:latin typeface="Arial"/>
                <a:ea typeface="+mn-lt"/>
                <a:cs typeface="+mn-lt"/>
              </a:rPr>
              <a:t> perform better on </a:t>
            </a:r>
            <a:r>
              <a:rPr lang="en-US" sz="2000" b="1" dirty="0">
                <a:latin typeface="Arial"/>
                <a:ea typeface="+mn-lt"/>
                <a:cs typeface="+mn-lt"/>
              </a:rPr>
              <a:t>recall</a:t>
            </a:r>
            <a:r>
              <a:rPr lang="en-US" sz="2000" dirty="0">
                <a:latin typeface="Arial"/>
                <a:ea typeface="+mn-lt"/>
                <a:cs typeface="+mn-lt"/>
              </a:rPr>
              <a:t> and </a:t>
            </a:r>
            <a:r>
              <a:rPr lang="en-US" sz="2000" b="1" dirty="0">
                <a:latin typeface="Arial"/>
                <a:ea typeface="+mn-lt"/>
                <a:cs typeface="+mn-lt"/>
              </a:rPr>
              <a:t>ROC-AUC</a:t>
            </a:r>
            <a:r>
              <a:rPr lang="en-US" sz="2000" dirty="0">
                <a:latin typeface="Arial"/>
                <a:ea typeface="+mn-lt"/>
                <a:cs typeface="+mn-lt"/>
              </a:rPr>
              <a:t>, which are critical for imbalanced classification.</a:t>
            </a:r>
            <a:endParaRPr lang="en-US" sz="2000">
              <a:latin typeface="Arial"/>
              <a:cs typeface="Arial"/>
            </a:endParaRPr>
          </a:p>
          <a:p>
            <a:r>
              <a:rPr lang="en-US" sz="2000" dirty="0">
                <a:latin typeface="Arial"/>
                <a:ea typeface="+mn-lt"/>
                <a:cs typeface="+mn-lt"/>
              </a:rPr>
              <a:t>•</a:t>
            </a:r>
            <a:r>
              <a:rPr lang="en-US" sz="2000" err="1">
                <a:latin typeface="Arial"/>
                <a:ea typeface="+mn-lt"/>
                <a:cs typeface="+mn-lt"/>
              </a:rPr>
              <a:t>XGBoost</a:t>
            </a:r>
            <a:r>
              <a:rPr lang="en-US" sz="2000" dirty="0">
                <a:latin typeface="Arial"/>
                <a:ea typeface="+mn-lt"/>
                <a:cs typeface="+mn-lt"/>
              </a:rPr>
              <a:t> slightly edges out in </a:t>
            </a:r>
            <a:r>
              <a:rPr lang="en-US" sz="2000" b="1" dirty="0">
                <a:latin typeface="Arial"/>
                <a:ea typeface="+mn-lt"/>
                <a:cs typeface="+mn-lt"/>
              </a:rPr>
              <a:t>F1 score</a:t>
            </a:r>
            <a:r>
              <a:rPr lang="en-US" sz="2000" dirty="0">
                <a:latin typeface="Arial"/>
                <a:ea typeface="+mn-lt"/>
                <a:cs typeface="+mn-lt"/>
              </a:rPr>
              <a:t>, making it a promising model to tune further.</a:t>
            </a:r>
            <a:endParaRPr lang="en-US"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3589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6E1F7-8B56-1A54-6F4D-DC55415F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Calibri"/>
                <a:ea typeface="Calibri"/>
                <a:cs typeface="Calibri"/>
              </a:rPr>
              <a:t>Model Evaluation – Before Tuning</a:t>
            </a:r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EE8BD49-6466-10C5-F66C-09289E0C23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84" b="2273"/>
          <a:stretch>
            <a:fillRect/>
          </a:stretch>
        </p:blipFill>
        <p:spPr>
          <a:xfrm>
            <a:off x="3058034" y="1249749"/>
            <a:ext cx="6617356" cy="30865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B3DFA-AE24-BCE1-F0BB-751F91519E87}"/>
              </a:ext>
            </a:extLst>
          </p:cNvPr>
          <p:cNvSpPr txBox="1"/>
          <p:nvPr/>
        </p:nvSpPr>
        <p:spPr>
          <a:xfrm>
            <a:off x="2302985" y="4335515"/>
            <a:ext cx="8882304" cy="25348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/>
                <a:ea typeface="Calibri"/>
                <a:cs typeface="Calibri"/>
              </a:rPr>
              <a:t>Accuracy</a:t>
            </a:r>
            <a:r>
              <a:rPr lang="en-US" sz="2000" dirty="0">
                <a:latin typeface="Arial"/>
                <a:ea typeface="Calibri"/>
                <a:cs typeface="Calibri"/>
              </a:rPr>
              <a:t> is similar across all models (~0.78–0.79), making it less informative due to class imbalance.</a:t>
            </a:r>
            <a:endParaRPr lang="en-US" sz="200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Calibri"/>
                <a:cs typeface="Calibri"/>
              </a:rPr>
              <a:t>Random Forest</a:t>
            </a:r>
            <a:r>
              <a:rPr lang="en-US" sz="2000" dirty="0">
                <a:latin typeface="Arial"/>
                <a:ea typeface="Calibri"/>
                <a:cs typeface="Calibri"/>
              </a:rPr>
              <a:t> achieves the highest </a:t>
            </a:r>
            <a:r>
              <a:rPr lang="en-US" sz="2000" b="1" dirty="0">
                <a:latin typeface="Arial"/>
                <a:ea typeface="Calibri"/>
                <a:cs typeface="Calibri"/>
              </a:rPr>
              <a:t>ROC-AUC (~0.81)</a:t>
            </a:r>
            <a:r>
              <a:rPr lang="en-US" sz="2000" dirty="0">
                <a:latin typeface="Arial"/>
                <a:ea typeface="Calibri"/>
                <a:cs typeface="Calibri"/>
              </a:rPr>
              <a:t>, showing strong separation ability between clicked vs. non-clicked.</a:t>
            </a:r>
            <a:endParaRPr lang="en-US" sz="2000">
              <a:latin typeface="Arial"/>
              <a:cs typeface="Arial"/>
            </a:endParaRPr>
          </a:p>
          <a:p>
            <a:r>
              <a:rPr lang="en-US" sz="2000" b="1" err="1">
                <a:latin typeface="Arial"/>
                <a:ea typeface="Calibri"/>
                <a:cs typeface="Calibri"/>
              </a:rPr>
              <a:t>XGBoost</a:t>
            </a:r>
            <a:r>
              <a:rPr lang="en-US" sz="2000" dirty="0">
                <a:latin typeface="Arial"/>
                <a:ea typeface="Calibri"/>
                <a:cs typeface="Calibri"/>
              </a:rPr>
              <a:t> scores the highest on </a:t>
            </a:r>
            <a:r>
              <a:rPr lang="en-US" sz="2000" b="1" dirty="0">
                <a:latin typeface="Arial"/>
                <a:ea typeface="Calibri"/>
                <a:cs typeface="Calibri"/>
              </a:rPr>
              <a:t>F1 Score</a:t>
            </a:r>
            <a:r>
              <a:rPr lang="en-US" sz="2000" dirty="0">
                <a:latin typeface="Arial"/>
                <a:ea typeface="Calibri"/>
                <a:cs typeface="Calibri"/>
              </a:rPr>
              <a:t>, making it a better balanced choice between precision and recall.</a:t>
            </a:r>
            <a:endParaRPr lang="en-US" sz="200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Calibri"/>
                <a:cs typeface="Calibri"/>
              </a:rPr>
              <a:t>Logistic Regression</a:t>
            </a:r>
            <a:r>
              <a:rPr lang="en-US" sz="2000" dirty="0">
                <a:latin typeface="Arial"/>
                <a:ea typeface="Calibri"/>
                <a:cs typeface="Calibri"/>
              </a:rPr>
              <a:t> lags behind in </a:t>
            </a:r>
            <a:r>
              <a:rPr lang="en-US" sz="2000" b="1" dirty="0">
                <a:latin typeface="Arial"/>
                <a:ea typeface="Calibri"/>
                <a:cs typeface="Calibri"/>
              </a:rPr>
              <a:t>recall</a:t>
            </a:r>
            <a:r>
              <a:rPr lang="en-US" sz="2000" dirty="0">
                <a:latin typeface="Arial"/>
                <a:ea typeface="Calibri"/>
                <a:cs typeface="Calibri"/>
              </a:rPr>
              <a:t> and </a:t>
            </a:r>
            <a:r>
              <a:rPr lang="en-US" sz="2000" b="1" dirty="0">
                <a:latin typeface="Arial"/>
                <a:ea typeface="Calibri"/>
                <a:cs typeface="Calibri"/>
              </a:rPr>
              <a:t>F1 Score</a:t>
            </a:r>
            <a:r>
              <a:rPr lang="en-US" sz="2000" dirty="0">
                <a:latin typeface="Arial"/>
                <a:ea typeface="Calibri"/>
                <a:cs typeface="Calibri"/>
              </a:rPr>
              <a:t>, confirming it’s less effective for imbalanced classification</a:t>
            </a:r>
            <a:endParaRPr lang="en-US"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1208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165CE-1CA8-24F7-11C4-412C99ADF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60611" cy="987770"/>
          </a:xfrm>
        </p:spPr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Model Performance – After Tuning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E8C4FF-56A1-F128-DE03-4368BF2BC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599" y="1354122"/>
            <a:ext cx="6657092" cy="3143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EAFFC0-013D-1C5C-8C1F-1E51E445CB71}"/>
              </a:ext>
            </a:extLst>
          </p:cNvPr>
          <p:cNvSpPr txBox="1"/>
          <p:nvPr/>
        </p:nvSpPr>
        <p:spPr>
          <a:xfrm>
            <a:off x="1154480" y="4503114"/>
            <a:ext cx="9432324" cy="21390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900" err="1">
                <a:latin typeface="Arial"/>
                <a:ea typeface="Calibri"/>
                <a:cs typeface="Calibri"/>
              </a:rPr>
              <a:t>XGBoost</a:t>
            </a:r>
            <a:r>
              <a:rPr lang="en-US" sz="1900" dirty="0">
                <a:latin typeface="Arial"/>
                <a:ea typeface="Calibri"/>
                <a:cs typeface="Calibri"/>
              </a:rPr>
              <a:t> and Random Forest show significant gains in recall and F1 score after tuning.</a:t>
            </a:r>
            <a:endParaRPr lang="en-US" sz="1900" dirty="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1900">
                <a:latin typeface="Arial"/>
                <a:ea typeface="Calibri"/>
                <a:cs typeface="Calibri"/>
              </a:rPr>
              <a:t>Both models reach ROC-AUC ≈ 0.72, indicating improved class separation.</a:t>
            </a:r>
            <a:endParaRPr lang="en-US" sz="190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1900">
                <a:latin typeface="Arial"/>
                <a:ea typeface="Calibri"/>
                <a:cs typeface="Calibri"/>
              </a:rPr>
              <a:t>Accuracy remains high (~0.78–0.82) across all models.</a:t>
            </a:r>
            <a:endParaRPr lang="en-US" sz="190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1900">
                <a:latin typeface="Arial"/>
                <a:ea typeface="Calibri"/>
                <a:cs typeface="Calibri"/>
              </a:rPr>
              <a:t>Hyperparameter tuning enhances model robustness for imbalanced CTR prediction.</a:t>
            </a:r>
            <a:endParaRPr lang="en-US" sz="190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1900" err="1">
                <a:latin typeface="Arial"/>
                <a:ea typeface="Calibri"/>
                <a:cs typeface="Calibri"/>
              </a:rPr>
              <a:t>XGBoost</a:t>
            </a:r>
            <a:r>
              <a:rPr lang="en-US" sz="1900">
                <a:latin typeface="Arial"/>
                <a:ea typeface="Calibri"/>
                <a:cs typeface="Calibri"/>
              </a:rPr>
              <a:t> (Tuned) emerges as the most balanced and best-performing model.</a:t>
            </a:r>
            <a:endParaRPr lang="en-US" sz="19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0150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89387-3E02-9092-728B-DD862CABC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00">
                <a:latin typeface="Calibri"/>
                <a:ea typeface="Calibri"/>
                <a:cs typeface="Calibri"/>
              </a:rPr>
              <a:t>Model Performance – After Tuning</a:t>
            </a:r>
          </a:p>
          <a:p>
            <a:endParaRPr lang="en-US" dirty="0"/>
          </a:p>
        </p:txBody>
      </p:sp>
      <p:pic>
        <p:nvPicPr>
          <p:cNvPr id="4" name="Content Placeholder 3" descr="A graph of a graph&#10;&#10;AI-generated content may be incorrect.">
            <a:extLst>
              <a:ext uri="{FF2B5EF4-FFF2-40B4-BE49-F238E27FC236}">
                <a16:creationId xmlns:a16="http://schemas.microsoft.com/office/drawing/2014/main" id="{27233916-82BF-2316-9D80-1D440B115D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9723" y="1698088"/>
            <a:ext cx="5744005" cy="45695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C39A96-C528-5B35-45AD-0752349DAEA5}"/>
              </a:ext>
            </a:extLst>
          </p:cNvPr>
          <p:cNvSpPr txBox="1"/>
          <p:nvPr/>
        </p:nvSpPr>
        <p:spPr>
          <a:xfrm>
            <a:off x="1510861" y="1711896"/>
            <a:ext cx="3643361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Arial"/>
                <a:cs typeface="Times"/>
              </a:rPr>
              <a:t>After hyperparameter tuning, the Random Forest model achieved a near-perfect micro-average ROC-AUC, indicating excellent separation between low, medium, and high income categories for Airbnb listings in Mexico City. The tuned </a:t>
            </a:r>
            <a:r>
              <a:rPr lang="en-US" sz="2000" dirty="0" err="1">
                <a:latin typeface="Arial"/>
                <a:cs typeface="Times"/>
              </a:rPr>
              <a:t>XGBoost</a:t>
            </a:r>
            <a:r>
              <a:rPr lang="en-US" sz="2000" dirty="0">
                <a:latin typeface="Arial"/>
                <a:cs typeface="Times"/>
              </a:rPr>
              <a:t> model also demonstrated strong discriminative performance, with a substantially higher ROC-AUC than random guessing (AUC = 0.50).</a:t>
            </a:r>
            <a:endParaRPr lang="en-US"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988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7155-82B3-DD1C-FD3F-41A1C7A41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00" b="1" dirty="0">
                <a:latin typeface="Calibri"/>
                <a:ea typeface="Calibri"/>
                <a:cs typeface="Calibri"/>
              </a:rPr>
              <a:t>Feature Selection using Random Forest</a:t>
            </a:r>
            <a:endParaRPr lang="en-US" dirty="0"/>
          </a:p>
        </p:txBody>
      </p:sp>
      <p:pic>
        <p:nvPicPr>
          <p:cNvPr id="4" name="Picture 3" descr="A graph with a bar graph&#10;&#10;AI-generated content may be incorrect.">
            <a:extLst>
              <a:ext uri="{FF2B5EF4-FFF2-40B4-BE49-F238E27FC236}">
                <a16:creationId xmlns:a16="http://schemas.microsoft.com/office/drawing/2014/main" id="{BE02E744-8C92-329E-BBCE-CE9CB3561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121" y="1337494"/>
            <a:ext cx="6739401" cy="53874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B3515B-A4F9-A544-0CCF-E92949AA04F0}"/>
              </a:ext>
            </a:extLst>
          </p:cNvPr>
          <p:cNvSpPr txBox="1"/>
          <p:nvPr/>
        </p:nvSpPr>
        <p:spPr>
          <a:xfrm>
            <a:off x="835298" y="2418204"/>
            <a:ext cx="4173837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Arial"/>
                <a:cs typeface="Arial"/>
              </a:rPr>
              <a:t>•</a:t>
            </a:r>
            <a:r>
              <a:rPr lang="en-US" sz="2000" dirty="0">
                <a:latin typeface="Arial"/>
                <a:ea typeface="Calibri"/>
                <a:cs typeface="Calibri"/>
              </a:rPr>
              <a:t>Additional strong contributors include </a:t>
            </a:r>
            <a:r>
              <a:rPr lang="en-US" sz="2000" dirty="0" err="1">
                <a:latin typeface="Arial"/>
                <a:ea typeface="Calibri"/>
                <a:cs typeface="Calibri"/>
              </a:rPr>
              <a:t>Neighborhod</a:t>
            </a:r>
            <a:r>
              <a:rPr lang="en-US" sz="2000" dirty="0">
                <a:latin typeface="Arial"/>
                <a:ea typeface="Calibri"/>
                <a:cs typeface="Calibri"/>
              </a:rPr>
              <a:t>, demand index, security index.</a:t>
            </a:r>
            <a:endParaRPr lang="en-US" sz="2000">
              <a:latin typeface="Arial"/>
              <a:cs typeface="Arial"/>
            </a:endParaRPr>
          </a:p>
          <a:p>
            <a:r>
              <a:rPr lang="en-US" sz="2000" dirty="0">
                <a:latin typeface="Arial"/>
                <a:cs typeface="Arial"/>
              </a:rPr>
              <a:t>•</a:t>
            </a:r>
            <a:r>
              <a:rPr lang="en-US" sz="2000" dirty="0">
                <a:latin typeface="Arial"/>
                <a:ea typeface="Calibri"/>
                <a:cs typeface="Calibri"/>
              </a:rPr>
              <a:t>Low-importance features </a:t>
            </a:r>
            <a:r>
              <a:rPr lang="en-US" sz="2000" dirty="0" err="1">
                <a:latin typeface="Arial"/>
                <a:ea typeface="Calibri"/>
                <a:cs typeface="Calibri"/>
              </a:rPr>
              <a:t>average_measure</a:t>
            </a:r>
            <a:r>
              <a:rPr lang="en-US" sz="2000" dirty="0">
                <a:latin typeface="Arial"/>
                <a:ea typeface="Calibri"/>
                <a:cs typeface="Calibri"/>
              </a:rPr>
              <a:t>, density park.</a:t>
            </a:r>
            <a:endParaRPr lang="en-US" sz="2000">
              <a:latin typeface="Arial"/>
              <a:cs typeface="Arial"/>
            </a:endParaRPr>
          </a:p>
          <a:p>
            <a:r>
              <a:rPr lang="en-US" sz="2000" dirty="0">
                <a:latin typeface="Arial"/>
                <a:cs typeface="Arial"/>
              </a:rPr>
              <a:t>•</a:t>
            </a:r>
            <a:r>
              <a:rPr lang="en-US" sz="2000" dirty="0">
                <a:latin typeface="Arial"/>
                <a:ea typeface="Calibri"/>
                <a:cs typeface="Calibri"/>
              </a:rPr>
              <a:t>This ranking helped validate and cross-check important variables selected by other models (e.g., </a:t>
            </a:r>
            <a:r>
              <a:rPr lang="en-US" sz="2000" err="1">
                <a:latin typeface="Arial"/>
                <a:ea typeface="Calibri"/>
                <a:cs typeface="Calibri"/>
              </a:rPr>
              <a:t>XGBoost</a:t>
            </a:r>
            <a:r>
              <a:rPr lang="en-US" sz="2000" dirty="0">
                <a:latin typeface="Arial"/>
                <a:ea typeface="Calibri"/>
                <a:cs typeface="Calibri"/>
              </a:rPr>
              <a:t>).</a:t>
            </a:r>
            <a:endParaRPr lang="en-US"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5962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9992-D811-A5D8-328B-42BC755F0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F8B08-3FBC-B556-594B-53FC831B0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Calibri"/>
                <a:ea typeface="Calibri"/>
                <a:cs typeface="Calibri"/>
              </a:rPr>
              <a:t>Evaluation Metrics – After Hyperparameter Tuning</a:t>
            </a:r>
            <a:endParaRPr lang="en-US" dirty="0"/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46401F5C-BB65-B098-5763-35C6C35A20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1032" y="1699684"/>
            <a:ext cx="7755193" cy="17272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B0EC49-6461-426D-31A2-24033180C00B}"/>
              </a:ext>
            </a:extLst>
          </p:cNvPr>
          <p:cNvSpPr txBox="1"/>
          <p:nvPr/>
        </p:nvSpPr>
        <p:spPr>
          <a:xfrm>
            <a:off x="2336157" y="4151028"/>
            <a:ext cx="752389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>
                <a:latin typeface="Arial"/>
                <a:cs typeface="Arial"/>
              </a:rPr>
              <a:t>All models showed performance increase after hyper-</a:t>
            </a:r>
            <a:r>
              <a:rPr lang="en-US" sz="2000" err="1">
                <a:latin typeface="Arial"/>
                <a:cs typeface="Arial"/>
              </a:rPr>
              <a:t>paramter</a:t>
            </a:r>
            <a:r>
              <a:rPr lang="en-US" sz="2000" dirty="0">
                <a:latin typeface="Arial"/>
                <a:cs typeface="Arial"/>
              </a:rPr>
              <a:t> tuning 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Arial"/>
                <a:cs typeface="Arial"/>
              </a:rPr>
              <a:t>Random Forest </a:t>
            </a:r>
            <a:r>
              <a:rPr lang="en-US" sz="2000" dirty="0">
                <a:latin typeface="Arial"/>
                <a:ea typeface="+mn-lt"/>
                <a:cs typeface="+mn-lt"/>
              </a:rPr>
              <a:t>achieves consistently high accuracy, precision, recall, F1 score, and ROC-AUC, which indicates strong performance across all evaluation metrics. 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Arial"/>
                <a:cs typeface="Arial"/>
              </a:rPr>
              <a:t>Logistic Regression improved but remained  weaker</a:t>
            </a: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5896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11FD-05D5-D659-0D0A-08232FC3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Investment Recommendation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9728C-F356-27B2-D950-AC37A4A49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rial"/>
                <a:ea typeface="Calibri"/>
                <a:cs typeface="Calibri"/>
              </a:rPr>
              <a:t>Based on our data:</a:t>
            </a:r>
            <a:endParaRPr lang="en-US" sz="20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latin typeface="Arial"/>
                <a:ea typeface="+mn-lt"/>
                <a:cs typeface="+mn-lt"/>
              </a:rPr>
              <a:t>We can conclude that Mexico City is attractive </a:t>
            </a:r>
            <a:r>
              <a:rPr lang="en-US" sz="2000" err="1">
                <a:latin typeface="Arial"/>
                <a:ea typeface="+mn-lt"/>
                <a:cs typeface="+mn-lt"/>
              </a:rPr>
              <a:t>palce</a:t>
            </a:r>
            <a:r>
              <a:rPr lang="en-US" sz="2000" dirty="0">
                <a:latin typeface="Arial"/>
                <a:ea typeface="+mn-lt"/>
                <a:cs typeface="+mn-lt"/>
              </a:rPr>
              <a:t> for Airbnb investment. </a:t>
            </a:r>
            <a:endParaRPr lang="en-US" sz="20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latin typeface="Arial"/>
                <a:ea typeface="Calibri"/>
                <a:cs typeface="Calibri"/>
              </a:rPr>
              <a:t>Focus areas, but we should pay special attention to these features:</a:t>
            </a:r>
            <a:endParaRPr lang="en-US" sz="2000" dirty="0">
              <a:latin typeface="Arial"/>
              <a:cs typeface="Arial"/>
            </a:endParaRPr>
          </a:p>
          <a:p>
            <a:pPr marL="457200" indent="-457200"/>
            <a:r>
              <a:rPr lang="en-US" sz="2000" dirty="0">
                <a:latin typeface="Arial"/>
                <a:ea typeface="Calibri"/>
                <a:cs typeface="Calibri"/>
              </a:rPr>
              <a:t> High-demand neighborhoods</a:t>
            </a:r>
            <a:endParaRPr lang="en-US" sz="2000" dirty="0">
              <a:latin typeface="Arial"/>
              <a:cs typeface="Arial"/>
            </a:endParaRPr>
          </a:p>
          <a:p>
            <a:pPr marL="457200" indent="-457200"/>
            <a:r>
              <a:rPr lang="en-US" sz="2000" dirty="0">
                <a:latin typeface="Arial"/>
                <a:ea typeface="Calibri"/>
                <a:cs typeface="Calibri"/>
              </a:rPr>
              <a:t>Near transit &amp; amenities</a:t>
            </a:r>
            <a:endParaRPr lang="en-US" sz="2000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5872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D6A5D-C903-74D7-9B7A-73CDED15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6C8BC-A55C-02B2-224B-1880071E1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3941" y="2268077"/>
            <a:ext cx="8782900" cy="1974900"/>
          </a:xfrm>
        </p:spPr>
        <p:txBody>
          <a:bodyPr vert="horz" lIns="0" tIns="0" rIns="0" bIns="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Arial"/>
                <a:ea typeface="+mn-lt"/>
                <a:cs typeface="Times New Roman"/>
              </a:rPr>
              <a:t>Our findings suggest that Mexico City presents a viable Airbnb investment opportunity; however, profitability is highly dependent on neighborhood characteristics and demand patterns. Investors who leverage data-driven location selection and pricing strategies are more likely to achieve higher income outcomes, while indiscriminate investment carries increased risk.</a:t>
            </a:r>
            <a:endParaRPr lang="en-US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Arial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66896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Mexico City Airbnb Income Prediction</vt:lpstr>
      <vt:lpstr>Data Source  </vt:lpstr>
      <vt:lpstr>Data Cleaning and Processing </vt:lpstr>
      <vt:lpstr>Exploratory Data Analysis </vt:lpstr>
      <vt:lpstr>Class Imbalance</vt:lpstr>
      <vt:lpstr>Modeling Approach </vt:lpstr>
      <vt:lpstr>EDA: Correlation Analysis – Categorical Feature Associations</vt:lpstr>
      <vt:lpstr>Baseline Model Performance</vt:lpstr>
      <vt:lpstr>Model Evaluation – Before Tuning</vt:lpstr>
      <vt:lpstr>Model Performance – After Tuning</vt:lpstr>
      <vt:lpstr>Model Performance – After Tuning </vt:lpstr>
      <vt:lpstr>Feature Selection using Random Forest</vt:lpstr>
      <vt:lpstr>Evaluation Metrics – After Hyperparameter Tuning</vt:lpstr>
      <vt:lpstr>Investment Recommendation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666</cp:revision>
  <dcterms:created xsi:type="dcterms:W3CDTF">2026-02-06T04:05:01Z</dcterms:created>
  <dcterms:modified xsi:type="dcterms:W3CDTF">2026-02-08T20:34:10Z</dcterms:modified>
</cp:coreProperties>
</file>